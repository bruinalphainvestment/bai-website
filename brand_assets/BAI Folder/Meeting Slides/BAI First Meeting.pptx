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Roboto"/>
      <p:regular r:id="rId12"/>
      <p:bold r:id="rId13"/>
      <p:italic r:id="rId14"/>
      <p:boldItalic r:id="rId15"/>
    </p:embeddedFont>
    <p:embeddedFont>
      <p:font typeface="Helvetica Neue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Roboto-bold.fntdata"/><Relationship Id="rId12" Type="http://schemas.openxmlformats.org/officeDocument/2006/relationships/font" Target="fonts/Roboto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oboto-boldItalic.fntdata"/><Relationship Id="rId14" Type="http://schemas.openxmlformats.org/officeDocument/2006/relationships/font" Target="fonts/Roboto-italic.fntdata"/><Relationship Id="rId17" Type="http://schemas.openxmlformats.org/officeDocument/2006/relationships/font" Target="fonts/HelveticaNeue-bold.fntdata"/><Relationship Id="rId16" Type="http://schemas.openxmlformats.org/officeDocument/2006/relationships/font" Target="fonts/HelveticaNeue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HelveticaNeue-boldItalic.fntdata"/><Relationship Id="rId6" Type="http://schemas.openxmlformats.org/officeDocument/2006/relationships/slide" Target="slides/slide1.xml"/><Relationship Id="rId18" Type="http://schemas.openxmlformats.org/officeDocument/2006/relationships/font" Target="fonts/HelveticaNeue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051f7af7d_0_1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051f7af7d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e051f7af7d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e051f7af7d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051f7af7d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051f7af7d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051f7af7d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051f7af7d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e051f7af7d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e051f7af7d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1716603" y="-641425"/>
            <a:ext cx="57108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latin typeface="Helvetica Neue"/>
                <a:ea typeface="Helvetica Neue"/>
                <a:cs typeface="Helvetica Neue"/>
                <a:sym typeface="Helvetica Neue"/>
              </a:rPr>
              <a:t>First Ever Meeting</a:t>
            </a:r>
            <a:endParaRPr i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8" name="Google Shape;68;p13" title="BAI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0238" y="1815003"/>
            <a:ext cx="3823524" cy="3057197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Mission/Description</a:t>
            </a:r>
            <a:endParaRPr sz="4500"/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60950" y="1824050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500">
                <a:solidFill>
                  <a:srgbClr val="4E4E4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Bruin Alpha Investment is a student-led organization dedicated to bridging academic finance with real-world market application. The club brings together students interested in </a:t>
            </a:r>
            <a:r>
              <a:rPr b="1" lang="en" sz="1500">
                <a:solidFill>
                  <a:srgbClr val="4E4E4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asset and wealth management, financial analysis, sales &amp; trading, prediction markets, and those engaged in active investing across equities, options, futures, and cryptocurrency markets.</a:t>
            </a:r>
            <a:r>
              <a:rPr lang="en" sz="1500">
                <a:solidFill>
                  <a:srgbClr val="4E4E4E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Beyond discussion, members actively participate in real trading environments, applying arbitrage strategies and other advanced techniques to live markets. The organization emphasizes practical execution, disciplined risk management, and a deep understanding of market structure. Through a collaborative and performance-driven community, Bruin Alpha Investment equips members with the technical skills, strategic thinking, and real experience needed to succeed in competitive finance careers.</a:t>
            </a:r>
            <a:endParaRPr sz="1500"/>
          </a:p>
        </p:txBody>
      </p:sp>
      <p:pic>
        <p:nvPicPr>
          <p:cNvPr id="75" name="Google Shape;75;p14" title="BAI Logo.png"/>
          <p:cNvPicPr preferRelativeResize="0"/>
          <p:nvPr/>
        </p:nvPicPr>
        <p:blipFill rotWithShape="1">
          <a:blip r:embed="rId3">
            <a:alphaModFix/>
          </a:blip>
          <a:srcRect b="42961" l="22071" r="23980" t="21836"/>
          <a:stretch/>
        </p:blipFill>
        <p:spPr>
          <a:xfrm>
            <a:off x="7590525" y="154425"/>
            <a:ext cx="1366049" cy="712726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Goals/What Makes a Club Real</a:t>
            </a:r>
            <a:endParaRPr sz="4000"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Active Communnity (Will Make Slack When we Get to it)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Strong Dedicated Leadership (Accountability)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Passion for legacy and mission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Real Clients, Real Companies, Real Alumni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Real Impact Projects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Strong Recruitment (Need to have system set up by Fall)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Marketing (Webstie, IG, Linkedin, Newsletter, Emailing)</a:t>
            </a:r>
            <a:endParaRPr/>
          </a:p>
        </p:txBody>
      </p:sp>
      <p:pic>
        <p:nvPicPr>
          <p:cNvPr id="82" name="Google Shape;82;p15" title="BAI Logo.png"/>
          <p:cNvPicPr preferRelativeResize="0"/>
          <p:nvPr/>
        </p:nvPicPr>
        <p:blipFill rotWithShape="1">
          <a:blip r:embed="rId3">
            <a:alphaModFix/>
          </a:blip>
          <a:srcRect b="42961" l="22071" r="23980" t="21836"/>
          <a:stretch/>
        </p:blipFill>
        <p:spPr>
          <a:xfrm>
            <a:off x="7590525" y="154425"/>
            <a:ext cx="1366049" cy="712726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Steps Going Forward</a:t>
            </a:r>
            <a:endParaRPr/>
          </a:p>
        </p:txBody>
      </p:sp>
      <p:sp>
        <p:nvSpPr>
          <p:cNvPr id="88" name="Google Shape;88;p16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How do we want to organize? (Both internally and externally)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Leadership roles will be finalized as we further create the club. We are in an </a:t>
            </a:r>
            <a:r>
              <a:rPr lang="en"/>
              <a:t>extremely</a:t>
            </a:r>
            <a:r>
              <a:rPr lang="en"/>
              <a:t> </a:t>
            </a:r>
            <a:r>
              <a:rPr lang="en"/>
              <a:t>entrepreneurial</a:t>
            </a:r>
            <a:r>
              <a:rPr lang="en"/>
              <a:t> part of our development so we get to make these positions.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Potentially have multiple groups </a:t>
            </a:r>
            <a:r>
              <a:rPr lang="en"/>
              <a:t>dedicated</a:t>
            </a:r>
            <a:r>
              <a:rPr lang="en"/>
              <a:t> to difference finance sectors and then have projects for said groups. (Ex: Trading group: </a:t>
            </a:r>
            <a:r>
              <a:rPr lang="en"/>
              <a:t>project</a:t>
            </a:r>
            <a:r>
              <a:rPr lang="en"/>
              <a:t> prop firm)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Whatever you guys are interested in, good at, want to find people in said sector, </a:t>
            </a:r>
            <a:r>
              <a:rPr lang="en"/>
              <a:t>think</a:t>
            </a:r>
            <a:r>
              <a:rPr lang="en"/>
              <a:t> about projects, ideas, ways of organizing, </a:t>
            </a:r>
            <a:r>
              <a:rPr lang="en"/>
              <a:t>advertising. </a:t>
            </a:r>
            <a:endParaRPr/>
          </a:p>
        </p:txBody>
      </p:sp>
      <p:pic>
        <p:nvPicPr>
          <p:cNvPr id="89" name="Google Shape;89;p16" title="BAI Logo.png"/>
          <p:cNvPicPr preferRelativeResize="0"/>
          <p:nvPr/>
        </p:nvPicPr>
        <p:blipFill rotWithShape="1">
          <a:blip r:embed="rId3">
            <a:alphaModFix/>
          </a:blip>
          <a:srcRect b="42961" l="22071" r="23980" t="21836"/>
          <a:stretch/>
        </p:blipFill>
        <p:spPr>
          <a:xfrm>
            <a:off x="7590525" y="154425"/>
            <a:ext cx="1366049" cy="712726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</a:t>
            </a:r>
            <a:r>
              <a:rPr lang="en"/>
              <a:t>Logistics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Room rental (5 B Days in advance) Signatories must reserve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AV system is like $300 a </a:t>
            </a:r>
            <a:r>
              <a:rPr lang="en"/>
              <a:t>quarter, 100 single time, 55 on weekends extra fee just to open the damn door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Funding? How, Why, When (We can request if we lock in)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All forms of branding need to be uniform and we cannot deviate or we will get punished by SOLE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 have an advisor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Wednesdays 7:30-8:30</a:t>
            </a:r>
            <a:endParaRPr/>
          </a:p>
        </p:txBody>
      </p:sp>
      <p:pic>
        <p:nvPicPr>
          <p:cNvPr id="96" name="Google Shape;96;p17" title="BAI Logo.png"/>
          <p:cNvPicPr preferRelativeResize="0"/>
          <p:nvPr/>
        </p:nvPicPr>
        <p:blipFill rotWithShape="1">
          <a:blip r:embed="rId3">
            <a:alphaModFix/>
          </a:blip>
          <a:srcRect b="42961" l="22071" r="23980" t="21836"/>
          <a:stretch/>
        </p:blipFill>
        <p:spPr>
          <a:xfrm>
            <a:off x="7590525" y="154425"/>
            <a:ext cx="1366049" cy="712726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246900" y="429875"/>
            <a:ext cx="867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80"/>
              <a:t>Have Passion, </a:t>
            </a:r>
            <a:r>
              <a:rPr lang="en" sz="3180"/>
              <a:t>Believe in Legacy, Believe in BAI</a:t>
            </a:r>
            <a:endParaRPr sz="3180"/>
          </a:p>
        </p:txBody>
      </p:sp>
      <p:pic>
        <p:nvPicPr>
          <p:cNvPr id="102" name="Google Shape;102;p18" title="BAI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0238" y="1826878"/>
            <a:ext cx="3823524" cy="3057197"/>
          </a:xfrm>
          <a:prstGeom prst="rect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